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8.xml"/><Relationship Id="rId11" Type="http://schemas.openxmlformats.org/officeDocument/2006/relationships/slide" Target="slides/slide9.xml"/><Relationship Id="rId22" Type="http://schemas.openxmlformats.org/officeDocument/2006/relationships/slide" Target="slides/slide20.xml"/><Relationship Id="rId10" Type="http://schemas.openxmlformats.org/officeDocument/2006/relationships/slide" Target="slides/slide8.xml"/><Relationship Id="rId21" Type="http://schemas.openxmlformats.org/officeDocument/2006/relationships/slide" Target="slides/slide19.xml"/><Relationship Id="rId13" Type="http://schemas.openxmlformats.org/officeDocument/2006/relationships/slide" Target="slides/slide11.xml"/><Relationship Id="rId24" Type="http://schemas.openxmlformats.org/officeDocument/2006/relationships/slide" Target="slides/slide22.xml"/><Relationship Id="rId12" Type="http://schemas.openxmlformats.org/officeDocument/2006/relationships/slide" Target="slides/slide10.xml"/><Relationship Id="rId23" Type="http://schemas.openxmlformats.org/officeDocument/2006/relationships/slide" Target="slides/slide21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7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5" Type="http://schemas.openxmlformats.org/officeDocument/2006/relationships/slide" Target="slides/slide1.xml"/><Relationship Id="rId19" Type="http://schemas.openxmlformats.org/officeDocument/2006/relationships/slide" Target="slides/slide17.xml"/><Relationship Id="rId6" Type="http://schemas.openxmlformats.org/officeDocument/2006/relationships/slide" Target="slides/slide2.xml"/><Relationship Id="rId18" Type="http://schemas.openxmlformats.org/officeDocument/2006/relationships/slide" Target="slides/slide16.xml"/><Relationship Id="rId7" Type="http://schemas.openxmlformats.org/officeDocument/2006/relationships/slide" Target="slides/slide3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4565E-7B24-43DF-BC31-D52EF8E8F14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C411F-76F0-44AA-8B72-95FDEB62AF1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C411F-76F0-44AA-8B72-95FDEB62AF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82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C411F-76F0-44AA-8B72-95FDEB62AF1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69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C411F-76F0-44AA-8B72-95FDEB62AF1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54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253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015"/>
            </a:lvl1pPr>
            <a:lvl2pPr marL="193040" indent="0" algn="ctr">
              <a:buNone/>
              <a:defRPr sz="845"/>
            </a:lvl2pPr>
            <a:lvl3pPr marL="385445" indent="0" algn="ctr">
              <a:buNone/>
              <a:defRPr sz="760"/>
            </a:lvl3pPr>
            <a:lvl4pPr marL="578485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565" indent="0" algn="ctr">
              <a:buNone/>
              <a:defRPr sz="675"/>
            </a:lvl6pPr>
            <a:lvl7pPr marL="1156970" indent="0" algn="ctr">
              <a:buNone/>
              <a:defRPr sz="675"/>
            </a:lvl7pPr>
            <a:lvl8pPr marL="1350010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C213-6287-40F0-ACD4-F14284D0F9F4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8"/>
            <a:ext cx="10515600" cy="2852737"/>
          </a:xfrm>
        </p:spPr>
        <p:txBody>
          <a:bodyPr anchor="b"/>
          <a:lstStyle>
            <a:lvl1pPr>
              <a:defRPr sz="253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/>
          <a:lstStyle>
            <a:lvl1pPr marL="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1pPr>
            <a:lvl2pPr marL="193040" indent="0">
              <a:buNone/>
              <a:defRPr sz="845">
                <a:solidFill>
                  <a:schemeClr val="tx1">
                    <a:tint val="75000"/>
                  </a:schemeClr>
                </a:solidFill>
              </a:defRPr>
            </a:lvl2pPr>
            <a:lvl3pPr marL="385445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48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56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697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01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4597F-FFC4-464C-9349-BB9E01C67C70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68A09-82A7-44B6-B53C-A89809053E42}" type="datetime1">
              <a:rPr lang="en-US" smtClean="0"/>
              <a:t>9/10/2026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015" b="1"/>
            </a:lvl1pPr>
            <a:lvl2pPr marL="193040" indent="0">
              <a:buNone/>
              <a:defRPr sz="845" b="1"/>
            </a:lvl2pPr>
            <a:lvl3pPr marL="385445" indent="0">
              <a:buNone/>
              <a:defRPr sz="760" b="1"/>
            </a:lvl3pPr>
            <a:lvl4pPr marL="578485" indent="0">
              <a:buNone/>
              <a:defRPr sz="675" b="1"/>
            </a:lvl4pPr>
            <a:lvl5pPr marL="771525" indent="0">
              <a:buNone/>
              <a:defRPr sz="675" b="1"/>
            </a:lvl5pPr>
            <a:lvl6pPr marL="964565" indent="0">
              <a:buNone/>
              <a:defRPr sz="675" b="1"/>
            </a:lvl6pPr>
            <a:lvl7pPr marL="1156970" indent="0">
              <a:buNone/>
              <a:defRPr sz="675" b="1"/>
            </a:lvl7pPr>
            <a:lvl8pPr marL="1350010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015" b="1"/>
            </a:lvl1pPr>
            <a:lvl2pPr marL="193040" indent="0">
              <a:buNone/>
              <a:defRPr sz="845" b="1"/>
            </a:lvl2pPr>
            <a:lvl3pPr marL="385445" indent="0">
              <a:buNone/>
              <a:defRPr sz="760" b="1"/>
            </a:lvl3pPr>
            <a:lvl4pPr marL="578485" indent="0">
              <a:buNone/>
              <a:defRPr sz="675" b="1"/>
            </a:lvl4pPr>
            <a:lvl5pPr marL="771525" indent="0">
              <a:buNone/>
              <a:defRPr sz="675" b="1"/>
            </a:lvl5pPr>
            <a:lvl6pPr marL="964565" indent="0">
              <a:buNone/>
              <a:defRPr sz="675" b="1"/>
            </a:lvl6pPr>
            <a:lvl7pPr marL="1156970" indent="0">
              <a:buNone/>
              <a:defRPr sz="675" b="1"/>
            </a:lvl7pPr>
            <a:lvl8pPr marL="1350010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27FC7-AAD1-4AE1-B354-C6F0AB649CF3}" type="datetime1">
              <a:rPr lang="en-US" smtClean="0"/>
              <a:t>9/10/2026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202A-4DD2-45ED-9DCB-355072681733}" type="datetime1">
              <a:rPr lang="en-US" smtClean="0"/>
              <a:t>9/10/2026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D33D-D638-49BF-806E-AA4140FDA1F8}" type="datetime1">
              <a:rPr lang="en-US" smtClean="0"/>
              <a:t>9/10/2026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350"/>
            </a:lvl1pPr>
            <a:lvl2pPr>
              <a:defRPr sz="1180"/>
            </a:lvl2pPr>
            <a:lvl3pPr>
              <a:defRPr sz="1015"/>
            </a:lvl3pPr>
            <a:lvl4pPr>
              <a:defRPr sz="845"/>
            </a:lvl4pPr>
            <a:lvl5pPr>
              <a:defRPr sz="845"/>
            </a:lvl5pPr>
            <a:lvl6pPr>
              <a:defRPr sz="845"/>
            </a:lvl6pPr>
            <a:lvl7pPr>
              <a:defRPr sz="845"/>
            </a:lvl7pPr>
            <a:lvl8pPr>
              <a:defRPr sz="845"/>
            </a:lvl8pPr>
            <a:lvl9pPr>
              <a:defRPr sz="8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675"/>
            </a:lvl1pPr>
            <a:lvl2pPr marL="193040" indent="0">
              <a:buNone/>
              <a:defRPr sz="590"/>
            </a:lvl2pPr>
            <a:lvl3pPr marL="385445" indent="0">
              <a:buNone/>
              <a:defRPr sz="505"/>
            </a:lvl3pPr>
            <a:lvl4pPr marL="578485" indent="0">
              <a:buNone/>
              <a:defRPr sz="420"/>
            </a:lvl4pPr>
            <a:lvl5pPr marL="771525" indent="0">
              <a:buNone/>
              <a:defRPr sz="420"/>
            </a:lvl5pPr>
            <a:lvl6pPr marL="964565" indent="0">
              <a:buNone/>
              <a:defRPr sz="420"/>
            </a:lvl6pPr>
            <a:lvl7pPr marL="1156970" indent="0">
              <a:buNone/>
              <a:defRPr sz="420"/>
            </a:lvl7pPr>
            <a:lvl8pPr marL="1350010" indent="0">
              <a:buNone/>
              <a:defRPr sz="420"/>
            </a:lvl8pPr>
            <a:lvl9pPr marL="1543050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3DC0-3D53-46E3-88A1-4337DAADBBC2}" type="datetime1">
              <a:rPr lang="en-US" smtClean="0"/>
              <a:t>9/10/2026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350"/>
            </a:lvl1pPr>
            <a:lvl2pPr marL="193040" indent="0">
              <a:buNone/>
              <a:defRPr sz="1180"/>
            </a:lvl2pPr>
            <a:lvl3pPr marL="385445" indent="0">
              <a:buNone/>
              <a:defRPr sz="1015"/>
            </a:lvl3pPr>
            <a:lvl4pPr marL="578485" indent="0">
              <a:buNone/>
              <a:defRPr sz="845"/>
            </a:lvl4pPr>
            <a:lvl5pPr marL="771525" indent="0">
              <a:buNone/>
              <a:defRPr sz="845"/>
            </a:lvl5pPr>
            <a:lvl6pPr marL="964565" indent="0">
              <a:buNone/>
              <a:defRPr sz="845"/>
            </a:lvl6pPr>
            <a:lvl7pPr marL="1156970" indent="0">
              <a:buNone/>
              <a:defRPr sz="845"/>
            </a:lvl7pPr>
            <a:lvl8pPr marL="1350010" indent="0">
              <a:buNone/>
              <a:defRPr sz="845"/>
            </a:lvl8pPr>
            <a:lvl9pPr marL="1543050" indent="0">
              <a:buNone/>
              <a:defRPr sz="845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675"/>
            </a:lvl1pPr>
            <a:lvl2pPr marL="193040" indent="0">
              <a:buNone/>
              <a:defRPr sz="590"/>
            </a:lvl2pPr>
            <a:lvl3pPr marL="385445" indent="0">
              <a:buNone/>
              <a:defRPr sz="505"/>
            </a:lvl3pPr>
            <a:lvl4pPr marL="578485" indent="0">
              <a:buNone/>
              <a:defRPr sz="420"/>
            </a:lvl4pPr>
            <a:lvl5pPr marL="771525" indent="0">
              <a:buNone/>
              <a:defRPr sz="420"/>
            </a:lvl5pPr>
            <a:lvl6pPr marL="964565" indent="0">
              <a:buNone/>
              <a:defRPr sz="420"/>
            </a:lvl6pPr>
            <a:lvl7pPr marL="1156970" indent="0">
              <a:buNone/>
              <a:defRPr sz="420"/>
            </a:lvl7pPr>
            <a:lvl8pPr marL="1350010" indent="0">
              <a:buNone/>
              <a:defRPr sz="420"/>
            </a:lvl8pPr>
            <a:lvl9pPr marL="1543050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564D-E0C1-44B5-9398-68DE2223B90D}" type="datetime1">
              <a:rPr lang="en-US" smtClean="0"/>
              <a:t>9/10/2026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D79FE-52E2-46CC-ACFB-E1A2817A0D06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AA1E-B5E3-4F5B-8CC7-2AC93C222160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73D8A-DA17-409C-95B6-C987513BD865}" type="datetime1">
              <a:rPr lang="en-US" smtClean="0"/>
              <a:t>9/10/2026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18B0-2E63-483F-97DC-994B6AB68F11}" type="datetime1">
              <a:rPr lang="en-US" smtClean="0"/>
              <a:t>9/10/2026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E566E-23B0-432C-B117-DBDEE81B8FD7}" type="datetime1">
              <a:rPr lang="en-US" smtClean="0"/>
              <a:t>9/10/2026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563" y="273432"/>
            <a:ext cx="10972120" cy="1144631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1835" b="0" strike="noStrike" spc="-1">
              <a:solidFill>
                <a:srgbClr val="5A6378"/>
              </a:solidFill>
              <a:latin typeface="Arial" panose="020B0604020202020204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563" y="1604399"/>
            <a:ext cx="10972120" cy="397725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1635" b="0" strike="noStrike" spc="-1">
              <a:latin typeface="Arial" panose="020B0604020202020204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78058-D0BB-4576-8606-145A4D899B12}" type="datetime1">
              <a:rPr lang="en-US" smtClean="0"/>
              <a:t>9/10/2026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2669" y="916045"/>
            <a:ext cx="11006667" cy="2570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4"/>
            <a:ext cx="8534400" cy="163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Altera VLSI Lab, Thiagarajar College of 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9E721-44BB-43A9-B569-B11F7545184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75" b="0" i="0">
                <a:solidFill>
                  <a:schemeClr val="tx1"/>
                </a:solidFill>
                <a:latin typeface="Microsoft Sans Serif" panose="020B0604020202020204"/>
                <a:cs typeface="Microsoft Sans Serif" panose="020B0604020202020204"/>
              </a:defRPr>
            </a:lvl1pPr>
          </a:lstStyle>
          <a:p>
            <a:pPr marL="21590">
              <a:lnSpc>
                <a:spcPts val="805"/>
              </a:lnSpc>
            </a:pPr>
            <a:fld id="{81D60167-4931-47E6-BA6A-407CBD079E47}" type="slidenum">
              <a:rPr lang="en-US" spc="-3" smtClean="0"/>
              <a:t>‹#›</a:t>
            </a:fld>
            <a:endParaRPr lang="en-US" spc="-3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9BCFB-2EA5-4836-8BAD-9F79A93C0EBF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Altera VLSI Lab, Thiagarajar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17309-64CD-418F-8CB8-55A25CE11A0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385445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544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5445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5445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5445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5445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5445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5445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5445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5445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445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6970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445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838201" y="301742"/>
            <a:ext cx="10515600" cy="48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00" rIns="0" bIns="0" anchor="ctr" anchorCtr="0">
            <a:spAutoFit/>
          </a:bodyPr>
          <a:lstStyle/>
          <a:p>
            <a:pPr marL="698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THIAGARAJAR COLLEGE OF ENGINEERING, MADURAI</a:t>
            </a:r>
            <a:r>
              <a:rPr lang="en-US" sz="3200" b="1">
                <a:latin typeface="Cambria"/>
                <a:ea typeface="Cambria"/>
                <a:cs typeface="Cambria"/>
                <a:sym typeface="Cambria"/>
              </a:rPr>
              <a:t/>
            </a:r>
            <a:br>
              <a:rPr lang="en-US" sz="3200" b="1"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>
                <a:solidFill>
                  <a:srgbClr val="E36C09"/>
                </a:solidFill>
                <a:latin typeface="Cambria"/>
                <a:ea typeface="Cambria"/>
                <a:cs typeface="Cambria"/>
                <a:sym typeface="Cambria"/>
              </a:rPr>
              <a:t>DEPARTMENT OF ECE</a:t>
            </a:r>
            <a:r>
              <a:rPr lang="en-US" sz="3200" b="1">
                <a:latin typeface="Cambria"/>
                <a:ea typeface="Cambria"/>
                <a:cs typeface="Cambria"/>
                <a:sym typeface="Cambria"/>
              </a:rPr>
              <a:t/>
            </a:r>
            <a:br>
              <a:rPr lang="en-US" sz="3200" b="1"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22EC690 –PROJECT- IlI</a:t>
            </a:r>
            <a:b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Review – I</a:t>
            </a:r>
            <a:b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/>
            </a:r>
            <a:b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 GIS-BASED SPATIAL ANALYSIS OF GROUNDWATER QUALITY PARAMETERS FOR WATER RESOURCE ASSESSMENT IN MADURAI DISTRICT,SOUTH INDIA</a:t>
            </a:r>
            <a:br>
              <a:rPr lang="en-US" sz="3200" b="1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>
                <a:latin typeface="Cambria"/>
                <a:ea typeface="Cambria"/>
                <a:cs typeface="Cambria"/>
                <a:sym typeface="Cambria"/>
              </a:rPr>
              <a:t/>
            </a:r>
            <a:br>
              <a:rPr lang="en-US" sz="3200" b="1">
                <a:latin typeface="Cambria"/>
                <a:ea typeface="Cambria"/>
                <a:cs typeface="Cambria"/>
                <a:sym typeface="Cambria"/>
              </a:rPr>
            </a:br>
            <a:endParaRPr sz="2400" b="1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7" name="Google Shape;47;p1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8/3/2026</a:t>
            </a:r>
            <a:endParaRPr/>
          </a:p>
        </p:txBody>
      </p:sp>
      <p:sp>
        <p:nvSpPr>
          <p:cNvPr id="48" name="Google Shape;48;p1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7172676" y="4696528"/>
            <a:ext cx="43194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Presented By,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2403917710621077 –</a:t>
            </a:r>
            <a:r>
              <a:rPr lang="en-US" b="1" dirty="0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SARAN KUMAR 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240391771062046 –</a:t>
            </a:r>
            <a:r>
              <a:rPr lang="en-US" b="1" dirty="0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LOGESHKUAMR C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240391771061082-SRI RAM.S.B</a:t>
            </a:r>
            <a:endParaRPr sz="1800" b="1" dirty="0">
              <a:solidFill>
                <a:schemeClr val="accent4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533399" y="4973404"/>
            <a:ext cx="5562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Guided By,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Dr. R. A. ALAGURAJA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4"/>
                </a:solidFill>
                <a:latin typeface="Cambria"/>
                <a:ea typeface="Cambria"/>
                <a:cs typeface="Cambria"/>
                <a:sym typeface="Cambria"/>
              </a:rPr>
              <a:t>Professor/ ECE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AD33D-D638-49BF-806E-AA4140FDA1F8}" type="datetime1">
              <a:rPr lang="en-US" smtClean="0"/>
              <a:t>9/10/2026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2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838200" y="644769"/>
            <a:ext cx="10216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4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690062"/>
            <a:ext cx="1070317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Groundwater quality is assessed using Total Dissolved Solids (TDS), Sodium (Na), Magnesium (Mg), and Chloride (Cl</a:t>
            </a:r>
            <a:r>
              <a:rPr lang="en-IN" sz="2400" dirty="0" smtClean="0"/>
              <a:t>) and many parameters from the data set</a:t>
            </a:r>
            <a:endParaRPr lang="en-IN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 These parameters indicate the chemical characteristics and suitability of groundwater.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 GIS is used to map and </a:t>
            </a:r>
            <a:r>
              <a:rPr lang="en-IN" sz="2400" dirty="0" err="1"/>
              <a:t>analyze</a:t>
            </a:r>
            <a:r>
              <a:rPr lang="en-IN" sz="2400" dirty="0"/>
              <a:t> the spatial variation of these parameters across Madurai District.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 Spatial analysis helps identify areas with good and poor groundwater quality.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 results support water resource planning, groundwater management, and decision-making for sustainable use.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3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8200" y="530669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  <a:endParaRPr lang="en-US" sz="3200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199" y="1447137"/>
            <a:ext cx="9244056" cy="458790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Groundwater is the major source of drinking and irrigation water in Madurai District.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Increasing urbanization, agriculture, and industrial activities affect groundwater quality.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Monitoring water quality is essential to ensure safe and sustainable water use.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GIS provides an efficient tool to </a:t>
            </a:r>
            <a:r>
              <a:rPr lang="en-IN" sz="2400" dirty="0" err="1"/>
              <a:t>analyze</a:t>
            </a:r>
            <a:r>
              <a:rPr lang="en-IN" sz="2400" dirty="0"/>
              <a:t> and visualize the spatial distribution of groundwater quality.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System 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4692292"/>
          </a:xfrm>
        </p:spPr>
        <p:txBody>
          <a:bodyPr>
            <a:noAutofit/>
          </a:bodyPr>
          <a:lstStyle/>
          <a:p>
            <a:r>
              <a:rPr lang="en-IN" sz="2400" dirty="0"/>
              <a:t>Groundwater quality is </a:t>
            </a:r>
            <a:r>
              <a:rPr lang="en-IN" sz="2400" dirty="0" err="1"/>
              <a:t>analyzed</a:t>
            </a:r>
            <a:r>
              <a:rPr lang="en-IN" sz="2400" dirty="0"/>
              <a:t> using conventional field sampling and laboratory testing methods.</a:t>
            </a:r>
          </a:p>
          <a:p>
            <a:pPr marL="0" indent="0">
              <a:buNone/>
            </a:pPr>
            <a:r>
              <a:rPr lang="en-IN" sz="2400" dirty="0"/>
              <a:t> </a:t>
            </a:r>
          </a:p>
          <a:p>
            <a:r>
              <a:rPr lang="en-IN" sz="2400" dirty="0"/>
              <a:t>Water quality parameters such as TDS, Na, Mg, and Cl are evaluated separately.</a:t>
            </a:r>
          </a:p>
          <a:p>
            <a:endParaRPr lang="en-IN" sz="2400" dirty="0"/>
          </a:p>
          <a:p>
            <a:r>
              <a:rPr lang="en-IN" sz="2400" dirty="0"/>
              <a:t> Results are typically presented in tabular or report format without spatial visualization. </a:t>
            </a:r>
          </a:p>
          <a:p>
            <a:endParaRPr lang="en-IN" sz="2400" dirty="0"/>
          </a:p>
          <a:p>
            <a:r>
              <a:rPr lang="en-IN" sz="2400" dirty="0"/>
              <a:t>Spatial variation and contamination patterns are difficult to identify.</a:t>
            </a:r>
          </a:p>
          <a:p>
            <a:pPr marL="0" indent="0">
              <a:buNone/>
            </a:pPr>
            <a:r>
              <a:rPr lang="en-IN" sz="2400" dirty="0"/>
              <a:t> </a:t>
            </a:r>
          </a:p>
          <a:p>
            <a:r>
              <a:rPr lang="en-IN" sz="2400" dirty="0"/>
              <a:t>Manual data analysis is time-consuming and less efficient for large study areas.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 Limited support for effective groundwater quality assessment and resource management.</a:t>
            </a:r>
            <a:endParaRPr lang="en-US" sz="2400" dirty="0"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0"/>
            <a:ext cx="10515600" cy="1277396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332" y="1499016"/>
            <a:ext cx="10334468" cy="43899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QGIS – Open-source GIS software used for spatial analysis, interpolation, and thematic map generation.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Shapefile (.</a:t>
            </a:r>
            <a:r>
              <a:rPr lang="en-IN" sz="2400" dirty="0" err="1"/>
              <a:t>shp</a:t>
            </a:r>
            <a:r>
              <a:rPr lang="en-IN" sz="2400" dirty="0"/>
              <a:t>) – Contains the Madurai district boundary and sampling locations used as the base layer for mapping.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Groundwater Quality Dataset – Includes TDS, Sodium (Na), Magnesium (Mg), and Chloride (Cl) values with corresponding coordinates.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Coordinate Reference System (CRS) – Used to accurately </a:t>
            </a:r>
            <a:r>
              <a:rPr lang="en-IN" sz="2400" dirty="0" err="1"/>
              <a:t>georeference</a:t>
            </a:r>
            <a:r>
              <a:rPr lang="en-IN" sz="2400" dirty="0"/>
              <a:t> and display spatial data.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771" y="365129"/>
            <a:ext cx="11078029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1: Drinking Water Quality 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771" y="1322773"/>
            <a:ext cx="11916229" cy="3932808"/>
          </a:xfrm>
        </p:spPr>
        <p:txBody>
          <a:bodyPr>
            <a:noAutofit/>
          </a:bodyPr>
          <a:lstStyle/>
          <a:p>
            <a:pPr lvl="0"/>
            <a:r>
              <a:rPr lang="en-IN" sz="2400" dirty="0"/>
              <a:t> Assess drinking-water suitability based on the chemical composition of groundwater.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pH, TDS  indicate acidity, alkalinity and dissolved-salt levels.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F, NO₂/NO₃ help identify potential health-related contamination.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Ca, Mg, Cl, SO₄ &amp; Na indicate hardness, salinity and overall water acceptability.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Spatial analysis identifies good, moderate and poor-quality zones across Madurai District.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Final application: Identify safe zones and map areas requiring water-quality monitoring.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3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15"/>
            <a:ext cx="10515600" cy="1141869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Scenario 2:Agriculture / Irrigation</a:t>
            </a:r>
            <a:r>
              <a:rPr lang="en-US" sz="1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4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668" y="899410"/>
            <a:ext cx="11506552" cy="545695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Scenario: Assess groundwater suitability for irrigation and its effects on soil and crops.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Key Parameters: TDS, SAR, RSC, Na%, Cl, Ca &amp; Mg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Major Impacts: High salts → soil salinity; high sodium → poor soil permeability; high Cl → crop</a:t>
            </a:r>
          </a:p>
          <a:p>
            <a:pPr marL="0" lvl="0" indent="0">
              <a:buNone/>
            </a:pPr>
            <a:endParaRPr lang="en-IN" sz="2400" dirty="0"/>
          </a:p>
          <a:p>
            <a:pPr marL="0" lvl="0" indent="0">
              <a:buNone/>
            </a:pPr>
            <a:r>
              <a:rPr lang="en-IN" sz="2400" dirty="0"/>
              <a:t> toxicity.</a:t>
            </a:r>
          </a:p>
          <a:p>
            <a:pPr marL="0" lv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What We Identify: Suitable, moderate and unsuitable irrigation zones.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Applications: Irrigation planning → Crop/soil risk assessment → Sustainable groundwater </a:t>
            </a:r>
          </a:p>
          <a:p>
            <a:pPr marL="0" lvl="0" indent="0">
              <a:buNone/>
            </a:pPr>
            <a:endParaRPr lang="en-IN" sz="2400" dirty="0"/>
          </a:p>
          <a:p>
            <a:pPr marL="0" lvl="0" indent="0">
              <a:buNone/>
            </a:pPr>
            <a:r>
              <a:rPr lang="en-IN" sz="2400" dirty="0"/>
              <a:t>management.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822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24" y="365129"/>
            <a:ext cx="10608076" cy="54927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3: Human Health </a:t>
            </a:r>
            <a:endPara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315" y="689548"/>
            <a:ext cx="11561685" cy="548741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Scenario: Assess groundwater parameters that may pose potential health risks through long-term  </a:t>
            </a:r>
          </a:p>
          <a:p>
            <a:pPr marL="0" lvl="0" indent="0">
              <a:buNone/>
            </a:pPr>
            <a:endParaRPr lang="en-IN" sz="2400" dirty="0"/>
          </a:p>
          <a:p>
            <a:pPr marL="0" lvl="0" indent="0">
              <a:buNone/>
            </a:pPr>
            <a:r>
              <a:rPr lang="en-IN" sz="2400" dirty="0"/>
              <a:t>consumption.</a:t>
            </a:r>
          </a:p>
          <a:p>
            <a:pPr marL="0" lv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Key Parameters: F, NO₂/NO₃, TDS, Na, pH, SO₄ &amp; Cl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Major Impacts: Excess F → fluorosis risk; high NO₃/NO₂ → health concern; very high TDS/Na →</a:t>
            </a:r>
          </a:p>
          <a:p>
            <a:pPr lvl="0"/>
            <a:endParaRPr lang="en-IN" sz="2400" dirty="0"/>
          </a:p>
          <a:p>
            <a:pPr marL="0" lvl="0" indent="0">
              <a:buNone/>
            </a:pPr>
            <a:r>
              <a:rPr lang="en-IN" sz="2400" dirty="0"/>
              <a:t> mineral/sodium exposure concern.</a:t>
            </a:r>
          </a:p>
          <a:p>
            <a:pPr marL="0" lv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What We Identify: Low, moderate and high potential health-risk zones.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Applications: Water-quality monitoring → Risk-zone mapping → Public-health planning.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080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(Irrigation) Suitability Classification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032001"/>
            <a:ext cx="10758714" cy="468948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493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484" y="544090"/>
            <a:ext cx="10515600" cy="1023453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(Irrigation) Suitability Classification</a:t>
            </a:r>
            <a:r>
              <a:rPr lang="en-US" altLang="en-US" sz="2000" b="1" dirty="0">
                <a:latin typeface="Arial" panose="020B0604020202020204" pitchFamily="34" charset="0"/>
              </a:rPr>
              <a:t/>
            </a:r>
            <a:br>
              <a:rPr lang="en-US" altLang="en-US" sz="2000" b="1" dirty="0">
                <a:latin typeface="Arial" panose="020B0604020202020204" pitchFamily="34" charset="0"/>
              </a:rPr>
            </a:br>
            <a:r>
              <a:rPr lang="en-US" altLang="en-US" sz="1200" b="1" dirty="0">
                <a:latin typeface="Arial" panose="020B0604020202020204" pitchFamily="34" charset="0"/>
              </a:rPr>
              <a:t/>
            </a:r>
            <a:br>
              <a:rPr lang="en-US" altLang="en-US" sz="1200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12</a:t>
            </a:fld>
            <a:endParaRPr lang="en-IN"/>
          </a:p>
        </p:txBody>
      </p:sp>
      <p:sp>
        <p:nvSpPr>
          <p:cNvPr id="8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222427" y="1302037"/>
            <a:ext cx="11724734" cy="534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Low suitability dominates most years, indicating limited groundwater suitability for irrigation.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Low class: approximately 57–82%, highest around 2010.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2011: noticeable improvement, with Medium suitability increasing.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2012–2021: Low suitability remains dominant but shows a gradual decline toward 2021.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High suitability: generally &lt;5%, representing very few highly suitable wells.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Overall: Groundwater requires better monitoring and sustainable irrigation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547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0" y="624115"/>
            <a:ext cx="10265229" cy="106657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Drinking Water Quality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6" y="1814179"/>
            <a:ext cx="11030858" cy="490730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14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8432C-F531-D2EA-6617-B86166CC1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Drinking Water Quality Classification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6438D-FD7E-CA8F-EF22-3FE4E2F7F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861" y="1349829"/>
            <a:ext cx="12336905" cy="482713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Low-quality wells dominate, indicating poor drinking-water suitability in many locations.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2016: Poorest condition, with Low quality around 54%.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2018–2021: Low-quality wells increase, reaching about 89% in 2021, indicating deterioration.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High-quality wells remain limited, mainly during 2011–2015.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Overall: Significant year-to-year variation highlights the need for continuous monitoring and</a:t>
            </a:r>
          </a:p>
          <a:p>
            <a:pPr lvl="0"/>
            <a:endParaRPr lang="en-IN" sz="2400" dirty="0"/>
          </a:p>
          <a:p>
            <a:pPr marL="0" lvl="0" indent="0">
              <a:buNone/>
            </a:pPr>
            <a:r>
              <a:rPr lang="en-IN" sz="2400" dirty="0"/>
              <a:t> groundwater management.</a:t>
            </a: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C0534-884D-E2DF-D1A5-9854AEEA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51686-7AC4-9AA3-D241-E6AA0A52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181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Risk Classification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690692"/>
            <a:ext cx="9855199" cy="516730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451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13071"/>
            <a:ext cx="10858500" cy="1133470"/>
          </a:xfrm>
        </p:spPr>
        <p:txBody>
          <a:bodyPr/>
          <a:lstStyle/>
          <a:p>
            <a:pPr lvl="0"/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Risk Classification</a:t>
            </a:r>
            <a:r>
              <a:rPr lang="en-US" altLang="en-US" sz="2000" b="1" dirty="0">
                <a:latin typeface="Arial" panose="020B0604020202020204" pitchFamily="34" charset="0"/>
              </a:rPr>
              <a:t/>
            </a:r>
            <a:br>
              <a:rPr lang="en-US" altLang="en-US" sz="2000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16</a:t>
            </a:fld>
            <a:endParaRPr lang="en-IN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9692" y="1477898"/>
            <a:ext cx="11112708" cy="534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Low-risk wells dominate most years, indicating generally acceptable groundwater conditions.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2009: Lowest Low-risk level (~51%) with Medium-risk rising to ~44%</a:t>
            </a:r>
          </a:p>
          <a:p>
            <a:pPr marL="0" lvl="0" indent="0">
              <a:buNone/>
            </a:pPr>
            <a:r>
              <a:rPr lang="en-IN" sz="2400" dirty="0"/>
              <a:t>.</a:t>
            </a:r>
          </a:p>
          <a:p>
            <a:pPr lvl="0"/>
            <a:r>
              <a:rPr lang="en-IN" sz="2400" dirty="0"/>
              <a:t> 2011–2021: Low-risk generally remains above 64%, reaching ~85% in 2018.</a:t>
            </a:r>
          </a:p>
          <a:p>
            <a:pPr marL="0" lv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 High-risk wells remain low (generally 0–4%) but increase in some years.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Overall: Most wells show low health risk, but periodic Medium/High-risk zones require</a:t>
            </a:r>
          </a:p>
          <a:p>
            <a:pPr marL="0" lvl="0" indent="0">
              <a:buNone/>
            </a:pPr>
            <a:endParaRPr lang="en-IN" sz="2400" dirty="0"/>
          </a:p>
          <a:p>
            <a:pPr marL="0" lvl="0" indent="0">
              <a:buNone/>
            </a:pPr>
            <a:r>
              <a:rPr lang="en-IN" sz="2400" dirty="0"/>
              <a:t> continuous monitoring and treatment.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442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5A04-4324-1704-6EEC-BFFC9F9F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Interrelationship of Groundwater Quality, Agriculture &amp; Health (2007–2021)</a:t>
            </a:r>
            <a:endParaRPr lang="en-IN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A5FDD-BD74-699F-BBB4-74BEE51C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F3C30-0598-209E-2D79-B6C26D062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E24F89-ABBC-6AC2-2F17-02D74A3FE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46228"/>
            <a:ext cx="10589265" cy="471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79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F61A-0489-7D7F-C39E-804E6C17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4577"/>
            <a:ext cx="10515600" cy="1046115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Interrelationship of Groundwater Quality, Agriculture &amp; Health (2007–2021)</a:t>
            </a:r>
            <a:b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6B55C-F330-FF66-B5A5-4D96C21C2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73" y="1027910"/>
            <a:ext cx="11692327" cy="4351338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r>
              <a:rPr lang="en-US" sz="2400" dirty="0"/>
              <a:t>Poorer groundwater quality (higher WQI) is associated with higher health risks.</a:t>
            </a:r>
          </a:p>
          <a:p>
            <a:endParaRPr lang="en-US" sz="2400" dirty="0"/>
          </a:p>
          <a:p>
            <a:r>
              <a:rPr lang="en-US" sz="2400" dirty="0"/>
              <a:t>WQI and Health Risk Index exhibit a strong positive correlation over the study period.</a:t>
            </a:r>
          </a:p>
          <a:p>
            <a:endParaRPr lang="en-US" sz="2400" dirty="0"/>
          </a:p>
          <a:p>
            <a:r>
              <a:rPr lang="en-US" sz="2400" dirty="0"/>
              <a:t>2016 recorded the worst groundwater quality and one of the highest health risk levels.</a:t>
            </a:r>
          </a:p>
          <a:p>
            <a:endParaRPr lang="en-US" sz="2400" dirty="0"/>
          </a:p>
          <a:p>
            <a:r>
              <a:rPr lang="en-US" sz="2400" dirty="0"/>
              <a:t>Agricultural suitability remained relatively stable and was less affected by groundwater quality changes.</a:t>
            </a:r>
          </a:p>
          <a:p>
            <a:endParaRPr lang="en-US" sz="2400" dirty="0"/>
          </a:p>
          <a:p>
            <a:r>
              <a:rPr lang="en-US" sz="2400" dirty="0"/>
              <a:t>Improving groundwater quality can reduce health risks and support sustainable water resource management.</a:t>
            </a:r>
          </a:p>
          <a:p>
            <a:endParaRPr lang="en-US" sz="2400" dirty="0"/>
          </a:p>
          <a:p>
            <a:r>
              <a:rPr lang="en-US" sz="2400" dirty="0"/>
              <a:t>Inference: Groundwater quality has a greater impact on human health than on agricultural suitability.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E8CED-FC8C-FB31-D6B8-60400BE3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860AC-8F95-35EC-9254-9B8F3751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551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altLang="en-US" sz="1400" b="1" dirty="0">
                <a:latin typeface="Arial" panose="020B0604020202020204" pitchFamily="34" charset="0"/>
              </a:rPr>
              <a:t/>
            </a:r>
            <a:br>
              <a:rPr lang="en-US" altLang="en-US" sz="1400" b="1" dirty="0"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4272DD-FE28-584A-49B4-231DE2BAD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772" y="1371601"/>
            <a:ext cx="10334172" cy="498476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616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74171"/>
            <a:ext cx="10515600" cy="2017961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Expected Outcomes &amp; Deliverables:</a:t>
            </a:r>
            <a:r>
              <a:rPr lang="en-US" sz="20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20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20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24262" y="1843790"/>
            <a:ext cx="9391338" cy="4333172"/>
          </a:xfrm>
        </p:spPr>
        <p:txBody>
          <a:bodyPr>
            <a:normAutofit fontScale="92500" lnSpcReduction="20000"/>
          </a:bodyPr>
          <a:lstStyle/>
          <a:p>
            <a:r>
              <a:rPr lang="en-IN" sz="2600" dirty="0"/>
              <a:t>GIS-based thematic maps showing the spatial distribution of TDS, Na, Mg, and Cl. </a:t>
            </a:r>
          </a:p>
          <a:p>
            <a:pPr marL="0" indent="0">
              <a:buNone/>
            </a:pPr>
            <a:endParaRPr lang="en-IN" sz="2600" dirty="0"/>
          </a:p>
          <a:p>
            <a:r>
              <a:rPr lang="en-IN" sz="2600" dirty="0"/>
              <a:t>Identification of groundwater quality zones and contamination-prone areas in Madurai</a:t>
            </a:r>
          </a:p>
          <a:p>
            <a:pPr marL="0" indent="0">
              <a:buNone/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 District. </a:t>
            </a:r>
          </a:p>
          <a:p>
            <a:endParaRPr lang="en-IN" sz="2600" dirty="0"/>
          </a:p>
          <a:p>
            <a:r>
              <a:rPr lang="en-IN" sz="2600" dirty="0"/>
              <a:t>Spatial analysis report for groundwater quality assessment.</a:t>
            </a:r>
          </a:p>
          <a:p>
            <a:endParaRPr lang="en-IN" sz="2600" dirty="0"/>
          </a:p>
          <a:p>
            <a:r>
              <a:rPr lang="en-IN" sz="2600" dirty="0"/>
              <a:t>QGIS project files and Shapefiles containing the </a:t>
            </a:r>
            <a:r>
              <a:rPr lang="en-IN" sz="2600" dirty="0" err="1"/>
              <a:t>analyzed</a:t>
            </a:r>
            <a:r>
              <a:rPr lang="en-IN" sz="2600" dirty="0"/>
              <a:t> spatial data. </a:t>
            </a:r>
          </a:p>
          <a:p>
            <a:endParaRPr lang="en-IN" sz="2600" dirty="0"/>
          </a:p>
          <a:p>
            <a:r>
              <a:rPr lang="en-IN" sz="2600" dirty="0"/>
              <a:t>Final project report and presentation for water resource planning and decision-making. </a:t>
            </a:r>
          </a:p>
          <a:p>
            <a:pPr>
              <a:lnSpc>
                <a:spcPct val="15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C961B-3FCD-BA70-88F9-D9AD7D3A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7C4D-E66C-D0C2-7331-D47AC54CE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125"/>
            <a:ext cx="10820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pPr lvl="0"/>
            <a:r>
              <a:rPr lang="en-IN" sz="2400" dirty="0"/>
              <a:t>Groundwater quality varies spatially and temporally (2007–2021).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Drinking &amp; irrigation suitability is generally low, indicating quality concerns.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Health risk is mostly low, with some medium/high-risk areas.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Spatial interpolation identifies vulnerable zones effectively.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Supports monitoring, treatment, and sustainable groundwater management in Madurai District.</a:t>
            </a: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A499B-CC3C-0643-1811-74EFC3FB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5CFA-FD6E-46FC-BDAD-F4F16E67A7D8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86BFB-1199-EFD7-D245-F1592303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062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991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C213-6287-40F0-ACD4-F14284D0F9F4}" type="datetime1">
              <a:rPr lang="en-US" smtClean="0"/>
              <a:t>9/10/2026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7309-64CD-418F-8CB8-55A25CE11A04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